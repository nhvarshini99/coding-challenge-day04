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E6D2FA0-2A33-45D5-BE6A-EC01B4DF34A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2CDD8A8-08BF-433F-92C6-0399D82622B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457200"/>
            <a:ext cx="6400800" cy="5715000"/>
          </a:xfrm>
        </p:spPr>
        <p:txBody>
          <a:bodyPr>
            <a:normAutofit/>
          </a:bodyPr>
          <a:lstStyle/>
          <a:p>
            <a:r>
              <a:rPr lang="en-US" sz="8000" b="1" dirty="0" smtClean="0">
                <a:solidFill>
                  <a:srgbClr val="C00000"/>
                </a:solidFill>
                <a:latin typeface="Algerian" panose="04020705040A02060702" pitchFamily="82" charset="0"/>
              </a:rPr>
              <a:t>Banking Analytics</a:t>
            </a:r>
            <a:endParaRPr lang="en-US" sz="80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05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Overall Business &amp; Transaction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981200"/>
            <a:ext cx="7924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Key Findings: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Transaction activity shows a </a:t>
            </a:r>
            <a:r>
              <a:rPr lang="en-US" b="1" dirty="0" smtClean="0"/>
              <a:t>clear monthly trend</a:t>
            </a:r>
            <a:r>
              <a:rPr lang="en-US" dirty="0" smtClean="0"/>
              <a:t>, indicating consistent customer engagement with noticeable peak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Savings and Current accounts</a:t>
            </a:r>
            <a:r>
              <a:rPr lang="en-US" dirty="0" smtClean="0"/>
              <a:t> contribute the largest share of total accounts, while </a:t>
            </a:r>
            <a:r>
              <a:rPr lang="en-US" b="1" dirty="0" smtClean="0"/>
              <a:t>Loan accounts</a:t>
            </a:r>
            <a:r>
              <a:rPr lang="en-US" dirty="0" smtClean="0"/>
              <a:t> form a smaller but critical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Net transaction impact suggests that </a:t>
            </a:r>
            <a:r>
              <a:rPr lang="en-US" b="1" dirty="0" smtClean="0"/>
              <a:t>customer deposits outweigh withdrawals</a:t>
            </a:r>
            <a:r>
              <a:rPr lang="en-US" dirty="0" smtClean="0"/>
              <a:t>, indicating stable liquidity.</a:t>
            </a:r>
          </a:p>
          <a:p>
            <a:endParaRPr lang="en-US" dirty="0" smtClean="0"/>
          </a:p>
          <a:p>
            <a:r>
              <a:rPr lang="en-US" b="1" dirty="0" smtClean="0"/>
              <a:t>Business Interpretation: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Customers are actively using banking services, and transaction behavior appears healthy and sustained over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8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Behavior &amp; Value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676400"/>
            <a:ext cx="7848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Key Findings: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majority of customers fall within the </a:t>
            </a:r>
            <a:r>
              <a:rPr lang="en-US" b="1" dirty="0" smtClean="0"/>
              <a:t>working-age groups (26–45 years)</a:t>
            </a:r>
            <a:r>
              <a:rPr lang="en-US" dirty="0" smtClean="0"/>
              <a:t>, showing a strong core customer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 small group of customers accounts for a </a:t>
            </a:r>
            <a:r>
              <a:rPr lang="en-US" b="1" dirty="0" smtClean="0"/>
              <a:t>disproportionately high number of transactions</a:t>
            </a:r>
            <a:r>
              <a:rPr lang="en-US" dirty="0" smtClean="0"/>
              <a:t>, highlighting high-value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Top customers maintain a </a:t>
            </a:r>
            <a:r>
              <a:rPr lang="en-US" b="1" dirty="0" smtClean="0"/>
              <a:t>higher average account balance</a:t>
            </a:r>
            <a:r>
              <a:rPr lang="en-US" dirty="0" smtClean="0"/>
              <a:t> compared to the overall customer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b="1" dirty="0" smtClean="0"/>
              <a:t>Business Interpretation: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Targeted retention strategies for high-value customers can significantly improve long-term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Age-based segmentation can be used to design personalized banking products.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55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Loan Performance &amp; Risk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676400"/>
            <a:ext cx="777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Key Findings: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Most loan accounts are </a:t>
            </a:r>
            <a:r>
              <a:rPr lang="en-US" b="1" dirty="0" smtClean="0"/>
              <a:t>active</a:t>
            </a:r>
            <a:r>
              <a:rPr lang="en-US" dirty="0" smtClean="0"/>
              <a:t>, with a </a:t>
            </a:r>
            <a:r>
              <a:rPr lang="en-US" b="1" dirty="0" smtClean="0"/>
              <a:t>limited proportion of defaults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b="1" dirty="0" smtClean="0"/>
              <a:t>loan default rate KPI</a:t>
            </a:r>
            <a:r>
              <a:rPr lang="en-US" dirty="0" smtClean="0"/>
              <a:t> remains within acceptable limits but requires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Interest rate simulations show that </a:t>
            </a:r>
            <a:r>
              <a:rPr lang="en-US" b="1" dirty="0" smtClean="0"/>
              <a:t>small changes in rates can significantly impact revenue</a:t>
            </a:r>
            <a:r>
              <a:rPr lang="en-US" dirty="0" smtClean="0"/>
              <a:t> from loan balances.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b="1" dirty="0" smtClean="0"/>
              <a:t>Business Interpretation: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loan portfolio is generally healthy, but proactive risk monitoring is necessary.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Scenario analysis supports data-driven decisions for interest rate adjustments.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7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</TotalTime>
  <Words>248</Words>
  <Application>Microsoft Office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Concourse</vt:lpstr>
      <vt:lpstr>Banking Analytics</vt:lpstr>
      <vt:lpstr>Overall Business &amp; Transaction Insights</vt:lpstr>
      <vt:lpstr>Customer Behavior &amp; Value Insights</vt:lpstr>
      <vt:lpstr>Loan Performance &amp; Risk Insights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Analytics</dc:title>
  <dc:creator>admin</dc:creator>
  <cp:lastModifiedBy>admin</cp:lastModifiedBy>
  <cp:revision>1</cp:revision>
  <dcterms:created xsi:type="dcterms:W3CDTF">2025-12-16T16:36:42Z</dcterms:created>
  <dcterms:modified xsi:type="dcterms:W3CDTF">2025-12-16T16:46:43Z</dcterms:modified>
</cp:coreProperties>
</file>